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/>
    <a:lvl1pPr marL="0" indent="0">
      <a:defRPr sz="1800"/>
    </a:lvl1pPr>
    <a:lvl2pPr marL="457200" indent="0">
      <a:defRPr sz="1600"/>
    </a:lvl2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 autoAdjust="0"/>
    <p:restoredTop sz="94660" autoAdjust="0"/>
  </p:normalViewPr>
  <p:slideViewPr/>
  <p:outlineViewPr/>
  <p:notesTextViewPr/>
  <p:gridSpacing cx="78028800" cy="78028800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20" Type="http://schemas.openxmlformats.org/officeDocument/2006/relationships/presProps" Target="presProps.xml"/>
  <Relationship Id="rId21" Type="http://schemas.openxmlformats.org/officeDocument/2006/relationships/viewProps" Target="viewProps.xml"/>
  <Relationship Id="rId22" Type="http://schemas.openxmlformats.org/officeDocument/2006/relationships/theme" Target="theme/theme1.xml"/>
  <Relationship Id="rId23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800" b="1"/>
      </a:lvl1pPr>
    </p:titleStyle>
    <p:bodyStyle>
      <a:lvl1pPr marL="342900" indent="-285750">
        <a:buChar char="•"/>
        <a:defRPr sz="1800"/>
      </a:lvl1pPr>
    </p:bodyStyle>
    <p:otherStyle>
      <a:lvl1pPr>
        <a:defRPr sz="1800"/>
      </a:lvl1pPr>
    </p:otherStyle>
  </p:txStyles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l"/>
            <a:r>
              <a:rPr lang="en-US" sz="2800" b="1" dirty="0" smtClean="0">
                <a:solidFill>
                  <a:srgbClr val="1E3A5F"/>
                </a:solidFill>
              </a:rPr>
              <a:t>SaathiDesk: What this application does</a:t>
            </a:r>
            <a:endParaRPr lang="en-US" sz="2800" b="1" dirty="0"/>
          </a:p>
        </p:txBody>
      </p:sp>
      <p:sp>
        <p:nvSpPr>
          <p:cNvPr id="3" name="Content Placeholder 2"/>
          <p:cNvSpPr txBox="1"/>
          <p:nvPr/>
        </p:nvSpPr>
        <p:spPr>
          <a:xfrm>
            <a:off x="822960" y="1325880"/>
            <a:ext cx="7589520" cy="50292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marL="342900" indent="-285750">
              <a:buChar char="•"/>
            </a:pPr>
            <a:r>
              <a:rPr lang="en-US" sz="1800" dirty="0" smtClean="0">
                <a:solidFill>
                  <a:srgbClr val="2B2B2B"/>
                </a:solidFill>
              </a:rPr>
              <a:t>Free, open-source AI-powered private photo gallery platform for photographers, wedding studios, and event teams.</a:t>
            </a:r>
            <a:endParaRPr lang="en-US" sz="1800" dirty="0"/>
          </a:p>
          <a:p>
            <a:pPr lvl="0" marL="342900" indent="-285750">
              <a:buChar char="•"/>
            </a:pPr>
            <a:r>
              <a:rPr lang="en-US" sz="1800" dirty="0" smtClean="0">
                <a:solidFill>
                  <a:srgbClr val="2B2B2B"/>
                </a:solidFill>
              </a:rPr>
              <a:t>Organizes work by customer, album, and event so large shoots stay structured and easy to manage.</a:t>
            </a:r>
            <a:endParaRPr lang="en-US" sz="1800" dirty="0"/>
          </a:p>
          <a:p>
            <a:pPr lvl="0" marL="342900" indent="-285750">
              <a:buChar char="•"/>
            </a:pPr>
            <a:r>
              <a:rPr lang="en-US" sz="1800" dirty="0" smtClean="0">
                <a:solidFill>
                  <a:srgbClr val="2B2B2B"/>
                </a:solidFill>
              </a:rPr>
              <a:t>Supports photo uploads from device storage, Google Drive, and Google Photos.</a:t>
            </a:r>
            <a:endParaRPr lang="en-US" sz="1800" dirty="0"/>
          </a:p>
          <a:p>
            <a:pPr lvl="0" marL="342900" indent="-285750">
              <a:buChar char="•"/>
            </a:pPr>
            <a:r>
              <a:rPr lang="en-US" sz="1800" dirty="0" smtClean="0">
                <a:solidFill>
                  <a:srgbClr val="2B2B2B"/>
                </a:solidFill>
              </a:rPr>
              <a:t>Adds AI-powered capabilities like face grouping, people filters, semantic photo search, review/culling, and AI image edits.</a:t>
            </a:r>
            <a:endParaRPr lang="en-US" sz="1800" dirty="0"/>
          </a:p>
          <a:p>
            <a:pPr lvl="0" marL="342900" indent="-285750">
              <a:buChar char="•"/>
            </a:pPr>
            <a:r>
              <a:rPr lang="en-US" sz="1800" dirty="0" smtClean="0">
                <a:solidFill>
                  <a:srgbClr val="2B2B2B"/>
                </a:solidFill>
              </a:rPr>
              <a:t>Delivers galleries with passcodes, watermarked previews, controlled downloads, collages, and preset-based finishing workflows.</a:t>
            </a:r>
            <a:endParaRPr lang="en-US" sz="1800" dirty="0"/>
          </a:p>
        </p:txBody>
      </p:sp>
      <p:sp>
        <p:nvSpPr>
          <p:cNvPr id="4" name="Accent Bar"/>
          <p:cNvSpPr/>
          <p:nvPr/>
        </p:nvSpPr>
        <p:spPr>
          <a:xfrm>
            <a:off x="548640" y="1051560"/>
            <a:ext cx="2011680" cy="7315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l"/>
            <a:r>
              <a:rPr lang="en-US" sz="2800" b="1" dirty="0" smtClean="0">
                <a:solidFill>
                  <a:srgbClr val="1E3A5F"/>
                </a:solidFill>
              </a:rPr>
              <a:t>What problem it solves</a:t>
            </a:r>
            <a:endParaRPr lang="en-US" sz="2800" b="1" dirty="0"/>
          </a:p>
        </p:txBody>
      </p:sp>
      <p:sp>
        <p:nvSpPr>
          <p:cNvPr id="3" name="Content Placeholder 2"/>
          <p:cNvSpPr txBox="1"/>
          <p:nvPr/>
        </p:nvSpPr>
        <p:spPr>
          <a:xfrm>
            <a:off x="822960" y="1325880"/>
            <a:ext cx="7589520" cy="50292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marL="342900" indent="-285750">
              <a:buChar char="•"/>
            </a:pPr>
            <a:r>
              <a:rPr lang="en-US" sz="1800" dirty="0" smtClean="0">
                <a:solidFill>
                  <a:srgbClr val="2B2B2B"/>
                </a:solidFill>
              </a:rPr>
              <a:t>Event photographers often struggle to organize thousands of images, find the right people or moments quickly, and deliver galleries securely.</a:t>
            </a:r>
            <a:endParaRPr lang="en-US" sz="1800" dirty="0"/>
          </a:p>
          <a:p>
            <a:pPr lvl="0" marL="342900" indent="-285750">
              <a:buChar char="•"/>
            </a:pPr>
            <a:r>
              <a:rPr lang="en-US" sz="1800" dirty="0" smtClean="0">
                <a:solidFill>
                  <a:srgbClr val="2B2B2B"/>
                </a:solidFill>
              </a:rPr>
              <a:t>Traditional gallery tools can be expensive, subscription-based, and weak at AI-assisted discovery and review.</a:t>
            </a:r>
            <a:endParaRPr lang="en-US" sz="1800" dirty="0"/>
          </a:p>
          <a:p>
            <a:pPr lvl="0" marL="342900" indent="-285750">
              <a:buChar char="•"/>
            </a:pPr>
            <a:r>
              <a:rPr lang="en-US" sz="1800" dirty="0" smtClean="0">
                <a:solidFill>
                  <a:srgbClr val="2B2B2B"/>
                </a:solidFill>
              </a:rPr>
              <a:t>SaathiDesk solves this by combining private gallery delivery with AI search, face-based discovery, and review workflows in one system.</a:t>
            </a:r>
            <a:endParaRPr lang="en-US" sz="1800" dirty="0"/>
          </a:p>
          <a:p>
            <a:pPr lvl="0" marL="342900" indent="-285750">
              <a:buChar char="•"/>
            </a:pPr>
            <a:r>
              <a:rPr lang="en-US" sz="1800" dirty="0" smtClean="0">
                <a:solidFill>
                  <a:srgbClr val="2B2B2B"/>
                </a:solidFill>
              </a:rPr>
              <a:t>It reduces time spent manually sorting, tagging, and answering client requests for specific people or scenes.</a:t>
            </a:r>
            <a:endParaRPr lang="en-US" sz="1800" dirty="0"/>
          </a:p>
          <a:p>
            <a:pPr lvl="0" marL="342900" indent="-285750">
              <a:buChar char="•"/>
            </a:pPr>
            <a:r>
              <a:rPr lang="en-US" sz="1800" dirty="0" smtClean="0">
                <a:solidFill>
                  <a:srgbClr val="2B2B2B"/>
                </a:solidFill>
              </a:rPr>
              <a:t>It also gives studios tighter control over privacy, guest access, preview watermarking, and downloads without adding recurring software cost.</a:t>
            </a:r>
            <a:endParaRPr lang="en-US" sz="1800" dirty="0"/>
          </a:p>
        </p:txBody>
      </p:sp>
      <p:sp>
        <p:nvSpPr>
          <p:cNvPr id="4" name="Accent Bar"/>
          <p:cNvSpPr/>
          <p:nvPr/>
        </p:nvSpPr>
        <p:spPr>
          <a:xfrm>
            <a:off x="548640" y="1051560"/>
            <a:ext cx="2011680" cy="7315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l"/>
            <a:r>
              <a:rPr lang="en-US" sz="2800" b="1" dirty="0" smtClean="0">
                <a:solidFill>
                  <a:srgbClr val="1E3A5F"/>
                </a:solidFill>
              </a:rPr>
              <a:t>How it can be used</a:t>
            </a:r>
            <a:endParaRPr lang="en-US" sz="2800" b="1" dirty="0"/>
          </a:p>
        </p:txBody>
      </p:sp>
      <p:sp>
        <p:nvSpPr>
          <p:cNvPr id="3" name="Content Placeholder 2"/>
          <p:cNvSpPr txBox="1"/>
          <p:nvPr/>
        </p:nvSpPr>
        <p:spPr>
          <a:xfrm>
            <a:off x="822960" y="1325880"/>
            <a:ext cx="7589520" cy="50292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marL="342900" indent="-285750">
              <a:buChar char="•"/>
            </a:pPr>
            <a:r>
              <a:rPr lang="en-US" sz="1800" dirty="0" smtClean="0">
                <a:solidFill>
                  <a:srgbClr val="2B2B2B"/>
                </a:solidFill>
              </a:rPr>
              <a:t>Create a private customer or event gallery, then upload photos into albums and events.</a:t>
            </a:r>
            <a:endParaRPr lang="en-US" sz="1800" dirty="0"/>
          </a:p>
          <a:p>
            <a:pPr lvl="0" marL="342900" indent="-285750">
              <a:buChar char="•"/>
            </a:pPr>
            <a:r>
              <a:rPr lang="en-US" sz="1800" dirty="0" smtClean="0">
                <a:solidFill>
                  <a:srgbClr val="2B2B2B"/>
                </a:solidFill>
              </a:rPr>
              <a:t>Let the system generate previews and AI metadata so users can search by person, appearance, or moment.</a:t>
            </a:r>
            <a:endParaRPr lang="en-US" sz="1800" dirty="0"/>
          </a:p>
          <a:p>
            <a:pPr lvl="0" marL="342900" indent="-285750">
              <a:buChar char="•"/>
            </a:pPr>
            <a:r>
              <a:rPr lang="en-US" sz="1800" dirty="0" smtClean="0">
                <a:solidFill>
                  <a:srgbClr val="2B2B2B"/>
                </a:solidFill>
              </a:rPr>
              <a:t>Use people filters, semantic search, and culling/review tools to narrow down the best photos fast.</a:t>
            </a:r>
            <a:endParaRPr lang="en-US" sz="1800" dirty="0"/>
          </a:p>
          <a:p>
            <a:pPr lvl="0" marL="342900" indent="-285750">
              <a:buChar char="•"/>
            </a:pPr>
            <a:r>
              <a:rPr lang="en-US" sz="1800" dirty="0" smtClean="0">
                <a:solidFill>
                  <a:srgbClr val="2B2B2B"/>
                </a:solidFill>
              </a:rPr>
              <a:t>Apply editing workflows such as LUT presets, AI edits, and collage exports when needed.</a:t>
            </a:r>
            <a:endParaRPr lang="en-US" sz="1800" dirty="0"/>
          </a:p>
          <a:p>
            <a:pPr lvl="0" marL="342900" indent="-285750">
              <a:buChar char="•"/>
            </a:pPr>
            <a:r>
              <a:rPr lang="en-US" sz="1800" dirty="0" smtClean="0">
                <a:solidFill>
                  <a:srgbClr val="2B2B2B"/>
                </a:solidFill>
              </a:rPr>
              <a:t>Share the final gallery with clients or guests using passcodes, share links, watermarked previews, and controlled downloads.</a:t>
            </a:r>
            <a:endParaRPr lang="en-US" sz="1800" dirty="0"/>
          </a:p>
        </p:txBody>
      </p:sp>
      <p:sp>
        <p:nvSpPr>
          <p:cNvPr id="4" name="Accent Bar"/>
          <p:cNvSpPr/>
          <p:nvPr/>
        </p:nvSpPr>
        <p:spPr>
          <a:xfrm>
            <a:off x="548640" y="1051560"/>
            <a:ext cx="2011680" cy="7315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3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SaathiDesk 3-slide overview</dc:title>
  <dc:creator>OpenAI</dc:creator>
  <cp:lastModifiedBy>OpenAI</cp:lastModifiedBy>
  <dcterms:created xsi:type="dcterms:W3CDTF">2026-06-16T02:49:35Z</dcterms:created>
  <dcterms:modified xsi:type="dcterms:W3CDTF">2026-06-16T02:49:35Z</dcterms:modified>
</cp:coreProperties>
</file>